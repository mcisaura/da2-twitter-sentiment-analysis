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64" r:id="rId4"/>
  </p:sldMasterIdLst>
  <p:notesMasterIdLst>
    <p:notesMasterId r:id="rId19"/>
  </p:notesMasterIdLst>
  <p:handoutMasterIdLst>
    <p:handoutMasterId r:id="rId20"/>
  </p:handoutMasterIdLst>
  <p:sldIdLst>
    <p:sldId id="295" r:id="rId5"/>
    <p:sldId id="296" r:id="rId6"/>
    <p:sldId id="297" r:id="rId7"/>
    <p:sldId id="285" r:id="rId8"/>
    <p:sldId id="298" r:id="rId9"/>
    <p:sldId id="304" r:id="rId10"/>
    <p:sldId id="312" r:id="rId11"/>
    <p:sldId id="306" r:id="rId12"/>
    <p:sldId id="307" r:id="rId13"/>
    <p:sldId id="308" r:id="rId14"/>
    <p:sldId id="309" r:id="rId15"/>
    <p:sldId id="310" r:id="rId16"/>
    <p:sldId id="311" r:id="rId17"/>
    <p:sldId id="31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D423AF-E8F3-CFD2-ED65-23791DB0B7CB}" v="7" dt="2026-04-13T05:04:30.533"/>
  </p1510:revLst>
</p1510:revInfo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12" autoAdjust="0"/>
    <p:restoredTop sz="91317" autoAdjust="0"/>
  </p:normalViewPr>
  <p:slideViewPr>
    <p:cSldViewPr snapToGrid="0">
      <p:cViewPr varScale="1">
        <p:scale>
          <a:sx n="109" d="100"/>
          <a:sy n="109" d="100"/>
        </p:scale>
        <p:origin x="936" y="184"/>
      </p:cViewPr>
      <p:guideLst/>
    </p:cSldViewPr>
  </p:slideViewPr>
  <p:outlineViewPr>
    <p:cViewPr>
      <p:scale>
        <a:sx n="33" d="100"/>
        <a:sy n="33" d="100"/>
      </p:scale>
      <p:origin x="0" y="-489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A81869F-F6FC-6A0D-CE07-6B540E550EE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A6B6C1-6185-79F5-23C8-927538634E4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41E86C-C6B4-424D-8295-67D3386172F0}" type="datetimeFigureOut">
              <a:rPr lang="en-US" smtClean="0"/>
              <a:t>4/13/26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75153B-EAEA-CF1E-30D7-16C2E64586B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72AFB7-47EE-893B-5887-BDC37DCA5F0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F94707-CAF6-40B0-A7EA-C5F3C63CBD6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34112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988D07-B188-44E4-ABBB-6994C1A52936}" type="datetimeFigureOut">
              <a:rPr lang="en-US" smtClean="0"/>
              <a:t>4/13/26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42455A-0D23-4EAB-9AF9-2CC2B3066B0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368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2455A-0D23-4EAB-9AF9-2CC2B3066B0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1777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2455A-0D23-4EAB-9AF9-2CC2B3066B0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9610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2455A-0D23-4EAB-9AF9-2CC2B3066B0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1773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2455A-0D23-4EAB-9AF9-2CC2B3066B0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76540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2455A-0D23-4EAB-9AF9-2CC2B3066B0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51488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6C27D-D378-2ADE-B6B7-255CBF61D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2D0B28-A540-0A7E-32CF-4E8F236E29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8A2540-1BB0-2B4A-F546-992DF2E310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900F9A-ADEB-0329-AD2C-C0CDD322BC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2455A-0D23-4EAB-9AF9-2CC2B3066B0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63608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471D7-D392-E028-3BD1-8D4BC667F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D775CC-824E-942F-F514-25E840088B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DC0D37-CC7D-4241-15AB-A6C78BC2DE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E949A5-E304-F32A-10F6-D314C77B34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2455A-0D23-4EAB-9AF9-2CC2B3066B0A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9669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2455A-0D23-4EAB-9AF9-2CC2B3066B0A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31143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263674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918782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32361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708489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765163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718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464DCA-A9BF-A892-3059-84E13570D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0702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46308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067757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519895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545913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CE0AB24-7427-4E0C-9E7C-B642B3170A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858000"/>
          </a:xfrm>
          <a:solidFill>
            <a:schemeClr val="accent6"/>
          </a:solidFill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E30A2A8-DADD-44CC-B8A3-9BFFD5E76B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2705101"/>
            <a:ext cx="7537703" cy="2926080"/>
          </a:xfrm>
          <a:solidFill>
            <a:schemeClr val="bg1">
              <a:alpha val="93000"/>
            </a:schemeClr>
          </a:solidFill>
        </p:spPr>
        <p:txBody>
          <a:bodyPr lIns="822960" tIns="91440" bIns="548640" anchor="b" anchorCtr="0">
            <a:noAutofit/>
          </a:bodyPr>
          <a:lstStyle>
            <a:lvl1pPr>
              <a:defRPr/>
            </a:lvl1pPr>
          </a:lstStyle>
          <a:p>
            <a:r>
              <a:rPr lang="en-US" sz="5400" dirty="0">
                <a:solidFill>
                  <a:schemeClr val="tx1"/>
                </a:solidFill>
              </a:rPr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783446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9">
            <a:extLst>
              <a:ext uri="{FF2B5EF4-FFF2-40B4-BE49-F238E27FC236}">
                <a16:creationId xmlns:a16="http://schemas.microsoft.com/office/drawing/2014/main" id="{8832B6D9-0469-48A5-A85E-8C5D8EF86B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z="4800" dirty="0">
                <a:solidFill>
                  <a:schemeClr val="tx1"/>
                </a:solidFill>
              </a:rPr>
              <a:t>Click to add title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8A8F00A-3EB2-4D4D-B4A7-990BB91D7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4142A7E4-A56F-4FC2-A81D-36A83134A21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97280" y="2108201"/>
            <a:ext cx="10058399" cy="3760891"/>
          </a:xfrm>
        </p:spPr>
        <p:txBody>
          <a:bodyPr lIns="91440">
            <a:normAutofit/>
          </a:bodyPr>
          <a:lstStyle>
            <a:lvl1pPr marL="347472" indent="-347472">
              <a:spcBef>
                <a:spcPts val="1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3000"/>
            </a:lvl1pPr>
            <a:lvl2pPr>
              <a:spcBef>
                <a:spcPts val="1200"/>
              </a:spcBef>
              <a:spcAft>
                <a:spcPts val="200"/>
              </a:spcAft>
              <a:defRPr sz="3000"/>
            </a:lvl2pPr>
            <a:lvl3pPr>
              <a:spcBef>
                <a:spcPts val="1200"/>
              </a:spcBef>
              <a:spcAft>
                <a:spcPts val="200"/>
              </a:spcAft>
              <a:defRPr sz="3000"/>
            </a:lvl3pPr>
            <a:lvl4pPr>
              <a:spcBef>
                <a:spcPts val="1200"/>
              </a:spcBef>
              <a:spcAft>
                <a:spcPts val="200"/>
              </a:spcAft>
              <a:defRPr sz="3000"/>
            </a:lvl4pPr>
            <a:lvl5pPr>
              <a:spcBef>
                <a:spcPts val="1200"/>
              </a:spcBef>
              <a:spcAft>
                <a:spcPts val="200"/>
              </a:spcAft>
              <a:defRPr sz="3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4815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ection Brea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7DBCCDB-B58C-45B3-9E63-49F7B08192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4334005"/>
            <a:ext cx="12192000" cy="252399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244128-E256-C1DC-AC6D-2BF10AC410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5212" y="4609578"/>
            <a:ext cx="10058400" cy="1295922"/>
          </a:xfrm>
        </p:spPr>
        <p:txBody>
          <a:bodyPr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72A6B42-C371-4562-8E40-9EE1906C857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65212" y="5943600"/>
            <a:ext cx="10058400" cy="914400"/>
          </a:xfrm>
        </p:spPr>
        <p:txBody>
          <a:bodyPr lIns="91440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sz="1500" dirty="0">
                <a:solidFill>
                  <a:schemeClr val="bg1"/>
                </a:solidFill>
              </a:rPr>
              <a:t>Click to add subtitle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68504FFB-1664-4F66-BC31-100C8DD983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5000" y="640080"/>
            <a:ext cx="3544888" cy="3355723"/>
          </a:xfrm>
          <a:solidFill>
            <a:schemeClr val="accent6"/>
          </a:solidFill>
        </p:spPr>
        <p:txBody>
          <a:bodyPr>
            <a:normAutofit/>
          </a:bodyPr>
          <a:lstStyle>
            <a:lvl1pPr algn="ctr"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1B45578D-1855-4EC0-9E45-E1630D11ACA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43400" y="640080"/>
            <a:ext cx="3544888" cy="3355723"/>
          </a:xfrm>
          <a:solidFill>
            <a:schemeClr val="accent6"/>
          </a:solidFill>
        </p:spPr>
        <p:txBody>
          <a:bodyPr>
            <a:normAutofit/>
          </a:bodyPr>
          <a:lstStyle>
            <a:lvl1pPr algn="ctr"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C93482C2-6151-4050-9F16-9952B0A017A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28432" y="640080"/>
            <a:ext cx="3544888" cy="3355723"/>
          </a:xfrm>
          <a:solidFill>
            <a:schemeClr val="accent6"/>
          </a:solidFill>
        </p:spPr>
        <p:txBody>
          <a:bodyPr>
            <a:normAutofit/>
          </a:bodyPr>
          <a:lstStyle>
            <a:lvl1pPr algn="ctr"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4982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9">
            <a:extLst>
              <a:ext uri="{FF2B5EF4-FFF2-40B4-BE49-F238E27FC236}">
                <a16:creationId xmlns:a16="http://schemas.microsoft.com/office/drawing/2014/main" id="{8832B6D9-0469-48A5-A85E-8C5D8EF86B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z="4800" dirty="0">
                <a:solidFill>
                  <a:schemeClr val="tx1"/>
                </a:solidFill>
              </a:rPr>
              <a:t>Click to add title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8A8F00A-3EB2-4D4D-B4A7-990BB91D7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4142A7E4-A56F-4FC2-A81D-36A83134A21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97280" y="2182849"/>
            <a:ext cx="10058399" cy="3956692"/>
          </a:xfrm>
        </p:spPr>
        <p:txBody>
          <a:bodyPr lIns="91440">
            <a:normAutofit/>
          </a:bodyPr>
          <a:lstStyle>
            <a:lvl1pPr marL="0" indent="0">
              <a:spcBef>
                <a:spcPts val="1200"/>
              </a:spcBef>
              <a:spcAft>
                <a:spcPts val="200"/>
              </a:spcAft>
              <a:buFont typeface="Arial" panose="020B0604020202020204" pitchFamily="34" charset="0"/>
              <a:buNone/>
              <a:defRPr sz="2400"/>
            </a:lvl1pPr>
            <a:lvl2pPr marL="384048" indent="-182880"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400"/>
            </a:lvl2pPr>
            <a:lvl3pPr>
              <a:spcBef>
                <a:spcPts val="1200"/>
              </a:spcBef>
              <a:spcAft>
                <a:spcPts val="200"/>
              </a:spcAft>
              <a:defRPr sz="2400"/>
            </a:lvl3pPr>
            <a:lvl4pPr>
              <a:spcBef>
                <a:spcPts val="1200"/>
              </a:spcBef>
              <a:spcAft>
                <a:spcPts val="200"/>
              </a:spcAft>
              <a:defRPr sz="2400"/>
            </a:lvl4pPr>
            <a:lvl5pPr>
              <a:spcBef>
                <a:spcPts val="1200"/>
              </a:spcBef>
              <a:spcAft>
                <a:spcPts val="200"/>
              </a:spcAft>
              <a:defRPr sz="2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00539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9">
            <a:extLst>
              <a:ext uri="{FF2B5EF4-FFF2-40B4-BE49-F238E27FC236}">
                <a16:creationId xmlns:a16="http://schemas.microsoft.com/office/drawing/2014/main" id="{8832B6D9-0469-48A5-A85E-8C5D8EF86B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z="4800" dirty="0">
                <a:solidFill>
                  <a:schemeClr val="tx1"/>
                </a:solidFill>
              </a:rPr>
              <a:t>Click to add title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8A8F00A-3EB2-4D4D-B4A7-990BB91D7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4142A7E4-A56F-4FC2-A81D-36A83134A21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97281" y="2183367"/>
            <a:ext cx="4998720" cy="3914850"/>
          </a:xfrm>
        </p:spPr>
        <p:txBody>
          <a:bodyPr lIns="91440">
            <a:normAutofit/>
          </a:bodyPr>
          <a:lstStyle>
            <a:lvl1pPr marL="0" indent="0">
              <a:spcBef>
                <a:spcPts val="1200"/>
              </a:spcBef>
              <a:spcAft>
                <a:spcPts val="200"/>
              </a:spcAft>
              <a:buFont typeface="Arial" panose="020B0604020202020204" pitchFamily="34" charset="0"/>
              <a:buNone/>
              <a:defRPr sz="2400"/>
            </a:lvl1pPr>
            <a:lvl2pPr marL="347472" indent="-182880"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400"/>
            </a:lvl2pPr>
            <a:lvl3pPr marL="566928" indent="-182880"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400"/>
            </a:lvl3pPr>
            <a:lvl4pPr marL="749808" indent="-182880"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400"/>
            </a:lvl4pPr>
            <a:lvl5pPr marL="932688" indent="-182880"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Content Placeholder 11">
            <a:extLst>
              <a:ext uri="{FF2B5EF4-FFF2-40B4-BE49-F238E27FC236}">
                <a16:creationId xmlns:a16="http://schemas.microsoft.com/office/drawing/2014/main" id="{BEAF6B01-7E55-3A14-DE85-588680B0910B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503438" y="2183367"/>
            <a:ext cx="4672294" cy="3914850"/>
          </a:xfrm>
        </p:spPr>
        <p:txBody>
          <a:bodyPr lIns="91440">
            <a:normAutofit/>
          </a:bodyPr>
          <a:lstStyle>
            <a:lvl1pPr marL="0" indent="0">
              <a:spcBef>
                <a:spcPts val="1200"/>
              </a:spcBef>
              <a:spcAft>
                <a:spcPts val="200"/>
              </a:spcAft>
              <a:buFont typeface="Arial" panose="020B0604020202020204" pitchFamily="34" charset="0"/>
              <a:buNone/>
              <a:defRPr sz="2400"/>
            </a:lvl1pPr>
            <a:lvl2pPr marL="347472" indent="-182880"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400"/>
            </a:lvl2pPr>
            <a:lvl3pPr marL="566928" indent="-182880"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400"/>
            </a:lvl3pPr>
            <a:lvl4pPr marL="749808" indent="-182880"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400"/>
            </a:lvl4pPr>
            <a:lvl5pPr marL="932688" indent="-182880"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513635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45F368C9-4803-45FD-A0BA-26B5679AF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79" y="286603"/>
            <a:ext cx="9966960" cy="1450757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0EEE198-C7B9-2C56-05AC-997ADD4EE0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97280" y="2194560"/>
            <a:ext cx="6024003" cy="3754425"/>
          </a:xfrm>
        </p:spPr>
        <p:txBody>
          <a:bodyPr lIns="91440">
            <a:normAutofit/>
          </a:bodyPr>
          <a:lstStyle>
            <a:lvl1pPr marL="0" indent="0">
              <a:spcBef>
                <a:spcPts val="1200"/>
              </a:spcBef>
              <a:spcAft>
                <a:spcPts val="200"/>
              </a:spcAft>
              <a:buNone/>
              <a:defRPr sz="2400"/>
            </a:lvl1pPr>
            <a:lvl2pPr marL="347472" indent="-347472"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400"/>
            </a:lvl2pPr>
            <a:lvl3pPr marL="566928" indent="-182880"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400"/>
            </a:lvl3pPr>
            <a:lvl4pPr marL="749808" indent="-182880"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400"/>
            </a:lvl4pPr>
            <a:lvl5pPr marL="932688" indent="-182880"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Content Placeholder 20">
            <a:extLst>
              <a:ext uri="{FF2B5EF4-FFF2-40B4-BE49-F238E27FC236}">
                <a16:creationId xmlns:a16="http://schemas.microsoft.com/office/drawing/2014/main" id="{244AF500-76F9-CD01-586B-E1B35B735F8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7406640" y="2194560"/>
            <a:ext cx="4067175" cy="3754425"/>
          </a:xfrm>
          <a:solidFill>
            <a:schemeClr val="tx1">
              <a:lumMod val="85000"/>
              <a:lumOff val="15000"/>
            </a:schemeClr>
          </a:solidFill>
        </p:spPr>
        <p:txBody>
          <a:bodyPr lIns="274320" tIns="274320" rIns="274320" bIns="274320">
            <a:normAutofit/>
          </a:bodyPr>
          <a:lstStyle>
            <a:lvl1pPr marL="512064" indent="-512064">
              <a:buClr>
                <a:schemeClr val="accent2"/>
              </a:buClr>
              <a:buFont typeface="+mj-lt"/>
              <a:buAutoNum type="arabicPeriod"/>
              <a:defRPr sz="2000">
                <a:solidFill>
                  <a:schemeClr val="bg1"/>
                </a:solidFill>
              </a:defRPr>
            </a:lvl1pPr>
            <a:lvl2pPr marL="658368" indent="-457200">
              <a:buClr>
                <a:schemeClr val="accent2"/>
              </a:buClr>
              <a:buFont typeface="+mj-lt"/>
              <a:buAutoNum type="arabicPeriod"/>
              <a:defRPr sz="2000">
                <a:solidFill>
                  <a:schemeClr val="bg1"/>
                </a:solidFill>
              </a:defRPr>
            </a:lvl2pPr>
            <a:lvl3pPr marL="841248" indent="-457200">
              <a:buClr>
                <a:schemeClr val="accent2"/>
              </a:buClr>
              <a:buFont typeface="+mj-lt"/>
              <a:buAutoNum type="arabicPeriod"/>
              <a:defRPr sz="2000">
                <a:solidFill>
                  <a:schemeClr val="bg1"/>
                </a:solidFill>
              </a:defRPr>
            </a:lvl3pPr>
            <a:lvl4pPr marL="1024128" indent="-457200">
              <a:buClr>
                <a:schemeClr val="accent2"/>
              </a:buClr>
              <a:buFont typeface="+mj-lt"/>
              <a:buAutoNum type="arabicPeriod"/>
              <a:defRPr sz="2000">
                <a:solidFill>
                  <a:schemeClr val="bg1"/>
                </a:solidFill>
              </a:defRPr>
            </a:lvl4pPr>
            <a:lvl5pPr marL="1207008" indent="-457200">
              <a:buClr>
                <a:schemeClr val="accent2"/>
              </a:buClr>
              <a:buFont typeface="+mj-lt"/>
              <a:buAutoNum type="arabicPeriod"/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02F1891-1ACC-4692-80A2-4F69EAAAE4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11493E3-605E-569A-BC16-ACFDDE98E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097280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13032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Content and 2 Columns Lef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45F368C9-4803-45FD-A0BA-26B5679AF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1676" y="286603"/>
            <a:ext cx="6024004" cy="178852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6487FB7-F6EE-0454-5FB0-228B2EBCB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130366" y="2166571"/>
            <a:ext cx="6030126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7E27ABCA-7CD7-B1C6-D787-E3B8959F7FE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39763" y="287338"/>
            <a:ext cx="4067175" cy="2801123"/>
          </a:xfrm>
          <a:solidFill>
            <a:schemeClr val="accent6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Content Placeholder 20">
            <a:extLst>
              <a:ext uri="{FF2B5EF4-FFF2-40B4-BE49-F238E27FC236}">
                <a16:creationId xmlns:a16="http://schemas.microsoft.com/office/drawing/2014/main" id="{244AF500-76F9-CD01-586B-E1B35B735F8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39763" y="3416796"/>
            <a:ext cx="4067175" cy="2801124"/>
          </a:xfrm>
          <a:solidFill>
            <a:schemeClr val="accent6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0EEE198-C7B9-2C56-05AC-997ADD4EE0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31676" y="2258012"/>
            <a:ext cx="6024003" cy="3959908"/>
          </a:xfrm>
        </p:spPr>
        <p:txBody>
          <a:bodyPr lIns="91440">
            <a:normAutofit/>
          </a:bodyPr>
          <a:lstStyle>
            <a:lvl1pPr marL="0" indent="0">
              <a:spcBef>
                <a:spcPts val="1200"/>
              </a:spcBef>
              <a:spcAft>
                <a:spcPts val="200"/>
              </a:spcAft>
              <a:buNone/>
              <a:defRPr sz="2400"/>
            </a:lvl1pPr>
            <a:lvl2pPr>
              <a:spcBef>
                <a:spcPts val="1200"/>
              </a:spcBef>
              <a:spcAft>
                <a:spcPts val="200"/>
              </a:spcAft>
              <a:defRPr sz="2000"/>
            </a:lvl2pPr>
            <a:lvl3pPr>
              <a:spcBef>
                <a:spcPts val="1200"/>
              </a:spcBef>
              <a:spcAft>
                <a:spcPts val="200"/>
              </a:spcAft>
              <a:defRPr sz="1600"/>
            </a:lvl3pPr>
            <a:lvl4pPr>
              <a:spcBef>
                <a:spcPts val="1200"/>
              </a:spcBef>
              <a:spcAft>
                <a:spcPts val="200"/>
              </a:spcAft>
              <a:defRPr sz="1600"/>
            </a:lvl4pPr>
            <a:lvl5pPr>
              <a:spcBef>
                <a:spcPts val="1200"/>
              </a:spcBef>
              <a:spcAft>
                <a:spcPts val="200"/>
              </a:spcAft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02F1891-1ACC-4692-80A2-4F69EAAAE4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250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Content and 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09674" y="286603"/>
            <a:ext cx="9946006" cy="1450757"/>
          </a:xfrm>
        </p:spPr>
        <p:txBody>
          <a:bodyPr lIns="0"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209675" y="2286000"/>
            <a:ext cx="2391941" cy="324856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7AA6B9BC-99C6-B9CE-63BB-C79284371A4A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3840163" y="2286000"/>
            <a:ext cx="7315200" cy="32480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9876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Fina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3DE7C46-EBCB-4558-B868-C6E743BAE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7474" y="640080"/>
            <a:ext cx="7229518" cy="511386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ED5FBCAA-65CF-CE8D-2A57-F07A559D61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5051" y="839520"/>
            <a:ext cx="6546596" cy="1729252"/>
          </a:xfrm>
        </p:spPr>
        <p:txBody>
          <a:bodyPr lIns="18288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AA471100-D8FC-C6A3-1AB4-9E0BBF5AA83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035050" y="2878052"/>
            <a:ext cx="3152775" cy="2557463"/>
          </a:xfrm>
        </p:spPr>
        <p:txBody>
          <a:bodyPr lIns="91440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31FFC008-9C4B-BB79-13EF-E3E28AF0285F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428872" y="2878052"/>
            <a:ext cx="3152775" cy="2557463"/>
          </a:xfrm>
        </p:spPr>
        <p:txBody>
          <a:bodyPr lIns="91440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24FE1E40-4668-3A25-AAEB-34B59D71BB2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556170" y="839520"/>
            <a:ext cx="2600779" cy="4915168"/>
          </a:xfrm>
          <a:noFill/>
        </p:spPr>
        <p:txBody>
          <a:bodyPr/>
          <a:lstStyle>
            <a:lvl1pPr marL="457200" indent="-457200">
              <a:spcBef>
                <a:spcPts val="1200"/>
              </a:spcBef>
              <a:spcAft>
                <a:spcPts val="200"/>
              </a:spcAft>
              <a:buFont typeface="+mj-lt"/>
              <a:buAutoNum type="arabicPeriod"/>
              <a:defRPr/>
            </a:lvl1pPr>
            <a:lvl2pPr marL="544068" indent="-342900">
              <a:spcBef>
                <a:spcPts val="1200"/>
              </a:spcBef>
              <a:spcAft>
                <a:spcPts val="200"/>
              </a:spcAft>
              <a:buFont typeface="+mj-lt"/>
              <a:buAutoNum type="arabicPeriod"/>
              <a:defRPr/>
            </a:lvl2pPr>
            <a:lvl3pPr marL="726948" indent="-342900">
              <a:spcBef>
                <a:spcPts val="1200"/>
              </a:spcBef>
              <a:spcAft>
                <a:spcPts val="200"/>
              </a:spcAft>
              <a:buFont typeface="+mj-lt"/>
              <a:buAutoNum type="arabicPeriod"/>
              <a:defRPr/>
            </a:lvl3pPr>
            <a:lvl4pPr marL="909828" indent="-342900">
              <a:spcBef>
                <a:spcPts val="1200"/>
              </a:spcBef>
              <a:spcAft>
                <a:spcPts val="200"/>
              </a:spcAft>
              <a:buFont typeface="+mj-lt"/>
              <a:buAutoNum type="arabicPeriod"/>
              <a:defRPr/>
            </a:lvl4pPr>
            <a:lvl5pPr marL="1092708" indent="-342900">
              <a:spcBef>
                <a:spcPts val="1200"/>
              </a:spcBef>
              <a:spcAft>
                <a:spcPts val="200"/>
              </a:spcAft>
              <a:buFont typeface="+mj-lt"/>
              <a:buAutoNum type="arabicPeriod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E592754-9FDD-4637-8931-8898DCEA2D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4A9276-3942-47EA-B16C-FEF66FB6F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2128" y="2723126"/>
            <a:ext cx="6467438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31839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09674" y="286603"/>
            <a:ext cx="9946006" cy="1450757"/>
          </a:xfrm>
        </p:spPr>
        <p:txBody>
          <a:bodyPr lIns="0"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7AA6B9BC-99C6-B9CE-63BB-C79284371A4A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209357" y="2313432"/>
            <a:ext cx="9946006" cy="367083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7911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4E322D5-1CC3-400A-A187-55543F0E8B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Title 13">
            <a:extLst>
              <a:ext uri="{FF2B5EF4-FFF2-40B4-BE49-F238E27FC236}">
                <a16:creationId xmlns:a16="http://schemas.microsoft.com/office/drawing/2014/main" id="{EAD2187F-4097-47C0-8330-56262D32831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59485" y="640080"/>
            <a:ext cx="3690257" cy="2450676"/>
          </a:xfrm>
        </p:spPr>
        <p:txBody>
          <a:bodyPr>
            <a:norm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0523EF1-B104-45FE-925A-5C7906FA18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942633" y="3255512"/>
            <a:ext cx="34747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A958037-C140-4697-8EAF-21C950A0ECC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0936" y="640080"/>
            <a:ext cx="6912864" cy="5312664"/>
          </a:xfrm>
          <a:solidFill>
            <a:schemeClr val="accent6"/>
          </a:solidFill>
        </p:spPr>
        <p:txBody>
          <a:bodyPr>
            <a:normAutofit/>
          </a:bodyPr>
          <a:lstStyle>
            <a:lvl1pPr algn="ctr"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44613BB0-E0E0-4B1C-9926-EBE53B5420E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859485" y="3429000"/>
            <a:ext cx="3690257" cy="2440094"/>
          </a:xfrm>
        </p:spPr>
        <p:txBody>
          <a:bodyPr lIns="9144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866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7560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  <p:sldLayoutId id="2147483777" r:id="rId13"/>
    <p:sldLayoutId id="2147483779" r:id="rId14"/>
    <p:sldLayoutId id="2147483780" r:id="rId15"/>
    <p:sldLayoutId id="2147483782" r:id="rId16"/>
    <p:sldLayoutId id="2147483783" r:id="rId17"/>
    <p:sldLayoutId id="2147483784" r:id="rId18"/>
    <p:sldLayoutId id="2147483785" r:id="rId19"/>
    <p:sldLayoutId id="2147483786" r:id="rId20"/>
    <p:sldLayoutId id="2147483787" r:id="rId21"/>
    <p:sldLayoutId id="2147483788" r:id="rId2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www.ctrl.blog/entry/twitter-bot-patterns.html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manoramaonline.com/technology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9E3965E-AC41-4711-9D10-E25ABB132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0AF4F2BA-3C03-4E2C-8ABC-0949B61B3C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Placeholder 7">
            <a:extLst>
              <a:ext uri="{FF2B5EF4-FFF2-40B4-BE49-F238E27FC236}">
                <a16:creationId xmlns:a16="http://schemas.microsoft.com/office/drawing/2014/main" id="{6BEAD192-141F-FDDE-021B-8674B81EECD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alphaModFix amt="35000"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C834208-78D3-55FF-0568-AC7434753C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Sentiment Analysis of Noisy Twitter Data</a:t>
            </a:r>
            <a:br>
              <a:rPr lang="en-US" sz="6000" dirty="0">
                <a:solidFill>
                  <a:srgbClr val="FFFFFF"/>
                </a:solidFill>
              </a:rPr>
            </a:br>
            <a:br>
              <a:rPr lang="en-US" sz="6000" dirty="0">
                <a:solidFill>
                  <a:srgbClr val="FFFFFF"/>
                </a:solidFill>
              </a:rPr>
            </a:br>
            <a:r>
              <a:rPr lang="en-US" sz="2000" dirty="0">
                <a:solidFill>
                  <a:srgbClr val="FFFFFF"/>
                </a:solidFill>
              </a:rPr>
              <a:t>Group 16</a:t>
            </a:r>
            <a:br>
              <a:rPr lang="en-US" sz="2000" dirty="0">
                <a:solidFill>
                  <a:srgbClr val="FFFFFF"/>
                </a:solidFill>
              </a:rPr>
            </a:br>
            <a:r>
              <a:rPr lang="en-US" sz="2000" dirty="0">
                <a:solidFill>
                  <a:srgbClr val="FFFFFF"/>
                </a:solidFill>
              </a:rPr>
              <a:t>Oluchi Nwabuoku</a:t>
            </a:r>
            <a:br>
              <a:rPr lang="en-US" sz="2000" dirty="0">
                <a:solidFill>
                  <a:srgbClr val="FFFFFF"/>
                </a:solidFill>
              </a:rPr>
            </a:br>
            <a:r>
              <a:rPr lang="en-US" sz="2000" dirty="0">
                <a:solidFill>
                  <a:srgbClr val="FFFFFF"/>
                </a:solidFill>
              </a:rPr>
              <a:t>Pete Sanker</a:t>
            </a:r>
            <a:endParaRPr lang="en-US" sz="6000" dirty="0">
              <a:solidFill>
                <a:srgbClr val="FFFFFF"/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07787ED-5EDC-4C54-AD87-55B60D0FE3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!!footer rectangle">
            <a:extLst>
              <a:ext uri="{FF2B5EF4-FFF2-40B4-BE49-F238E27FC236}">
                <a16:creationId xmlns:a16="http://schemas.microsoft.com/office/drawing/2014/main" id="{B40A8CA7-7D5A-43B0-A1A0-B558ECA9E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09BCDC-CBD7-3999-0EB1-CC18812AF3C2}"/>
              </a:ext>
            </a:extLst>
          </p:cNvPr>
          <p:cNvSpPr txBox="1"/>
          <p:nvPr/>
        </p:nvSpPr>
        <p:spPr>
          <a:xfrm>
            <a:off x="1097280" y="4934198"/>
            <a:ext cx="10058400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How does Twitter-specific linguistic noise affect the performance of classical TF-IDF based models compared to a neural baseline?</a:t>
            </a:r>
          </a:p>
        </p:txBody>
      </p:sp>
    </p:spTree>
    <p:extLst>
      <p:ext uri="{BB962C8B-B14F-4D97-AF65-F5344CB8AC3E}">
        <p14:creationId xmlns:p14="http://schemas.microsoft.com/office/powerpoint/2010/main" val="20768791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39B4056F-1959-4627-A683-77F6C0603F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screenshot of a chat&#10;&#10;AI-generated content may be incorrect.">
            <a:extLst>
              <a:ext uri="{FF2B5EF4-FFF2-40B4-BE49-F238E27FC236}">
                <a16:creationId xmlns:a16="http://schemas.microsoft.com/office/drawing/2014/main" id="{C45F885D-2B8C-EDCB-C290-4AE5865472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99" y="1493426"/>
            <a:ext cx="10925102" cy="1857266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D8D7349B-C9FA-4FCE-A1FF-948F460A3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554906"/>
            <a:ext cx="12188952" cy="230309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E44E67-57A4-9825-9E94-C2B258A68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8" y="4905301"/>
            <a:ext cx="4988879" cy="155448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Motivation/Objective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5646586-8E5D-4A2B-BDA9-01CE28AC8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20770" y="5247564"/>
            <a:ext cx="0" cy="873457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EF2F38F0-9676-7483-9110-1FFC643919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64302" y="4689965"/>
            <a:ext cx="5770641" cy="176982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0" tIns="45720" rIns="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Calibri" panose="020F0502020204030204" pitchFamily="34" charset="0"/>
              <a:buNone/>
              <a:tabLst/>
            </a:pPr>
            <a:endParaRPr lang="en-US" altLang="en-US" sz="1200" dirty="0">
              <a:solidFill>
                <a:srgbClr val="FFFFFF"/>
              </a:solidFill>
            </a:endParaRP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Calibri" panose="020F0502020204030204" pitchFamily="34" charset="0"/>
              <a:buChar char="§"/>
              <a:tabLst/>
            </a:pPr>
            <a:r>
              <a:rPr lang="en-US" altLang="en-US" sz="1200" dirty="0">
                <a:solidFill>
                  <a:srgbClr val="FFFFFF"/>
                </a:solidFill>
              </a:rPr>
              <a:t>Social media reflects real-time public opinion</a:t>
            </a: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Calibri" panose="020F0502020204030204" pitchFamily="34" charset="0"/>
              <a:buChar char="§"/>
              <a:tabLst/>
            </a:pPr>
            <a:r>
              <a:rPr lang="en-US" altLang="en-US" sz="1200" dirty="0">
                <a:solidFill>
                  <a:srgbClr val="FFFFFF"/>
                </a:solidFill>
              </a:rPr>
              <a:t>Widely used in business, marketing, and decision-making</a:t>
            </a: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Calibri" panose="020F0502020204030204" pitchFamily="34" charset="0"/>
              <a:buChar char="§"/>
              <a:tabLst/>
            </a:pPr>
            <a:r>
              <a:rPr lang="en-US" altLang="en-US" sz="1200" dirty="0">
                <a:solidFill>
                  <a:srgbClr val="FFFFFF"/>
                </a:solidFill>
              </a:rPr>
              <a:t>Twitter data is highly informal and unstructured</a:t>
            </a: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Calibri" panose="020F0502020204030204" pitchFamily="34" charset="0"/>
              <a:buChar char="§"/>
              <a:tabLst/>
            </a:pPr>
            <a:r>
              <a:rPr lang="en-US" altLang="en-US" sz="1200" dirty="0">
                <a:solidFill>
                  <a:srgbClr val="FFFFFF"/>
                </a:solidFill>
              </a:rPr>
              <a:t>Contains noise: emojis, slang, abbreviations, misspellings</a:t>
            </a: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Calibri" panose="020F0502020204030204" pitchFamily="34" charset="0"/>
              <a:buChar char="§"/>
              <a:tabLst/>
            </a:pPr>
            <a:r>
              <a:rPr lang="en-US" altLang="en-US" sz="1200" dirty="0">
                <a:solidFill>
                  <a:srgbClr val="FFFFFF"/>
                </a:solidFill>
              </a:rPr>
              <a:t>Traditional text models struggle with this</a:t>
            </a:r>
          </a:p>
        </p:txBody>
      </p:sp>
    </p:spTree>
    <p:extLst>
      <p:ext uri="{BB962C8B-B14F-4D97-AF65-F5344CB8AC3E}">
        <p14:creationId xmlns:p14="http://schemas.microsoft.com/office/powerpoint/2010/main" val="36481632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F8F8E77-5AE3-D0E9-4AC2-1662B8861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Preprocessing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64DEE2-F57D-B725-2583-A1131FE5B9A7}"/>
              </a:ext>
            </a:extLst>
          </p:cNvPr>
          <p:cNvSpPr txBox="1"/>
          <p:nvPr/>
        </p:nvSpPr>
        <p:spPr>
          <a:xfrm>
            <a:off x="317351" y="2161851"/>
            <a:ext cx="60995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Goal of preprocessing: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Reduce noise while preserving sentiment meaning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2D0889-BBC3-BD38-A13B-FCBCEDE09A9E}"/>
              </a:ext>
            </a:extLst>
          </p:cNvPr>
          <p:cNvSpPr txBox="1"/>
          <p:nvPr/>
        </p:nvSpPr>
        <p:spPr>
          <a:xfrm>
            <a:off x="317351" y="3101815"/>
            <a:ext cx="609958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Basic Cleaning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Lowercasing all text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Removing punctuation and URLs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Removing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stopwords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Standardizing text format</a:t>
            </a:r>
          </a:p>
        </p:txBody>
      </p:sp>
      <p:sp>
        <p:nvSpPr>
          <p:cNvPr id="26" name="Rectangle 4">
            <a:extLst>
              <a:ext uri="{FF2B5EF4-FFF2-40B4-BE49-F238E27FC236}">
                <a16:creationId xmlns:a16="http://schemas.microsoft.com/office/drawing/2014/main" id="{793CE5D8-8360-3729-E89E-D484D129F5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6937" y="2018494"/>
            <a:ext cx="5317481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Advanced Cleaning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Converting emojis into meaningful tokens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Handling slang and informal language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Reducing repeated characters (e.g. “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loooove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”)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Replacing usernames and links with placeholders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Preserving important sentiment cues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3DE5AE9-6665-9D09-F8E4-FD5F4AB82981}"/>
              </a:ext>
            </a:extLst>
          </p:cNvPr>
          <p:cNvSpPr txBox="1"/>
          <p:nvPr/>
        </p:nvSpPr>
        <p:spPr>
          <a:xfrm>
            <a:off x="6416937" y="4193176"/>
            <a:ext cx="60995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Why it matters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Improves feature quality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Helps model understand sentiment more clearly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Reduces irrelevant variability in text</a:t>
            </a:r>
          </a:p>
        </p:txBody>
      </p:sp>
    </p:spTree>
    <p:extLst>
      <p:ext uri="{BB962C8B-B14F-4D97-AF65-F5344CB8AC3E}">
        <p14:creationId xmlns:p14="http://schemas.microsoft.com/office/powerpoint/2010/main" val="1666731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39E3965E-AC41-4711-9D10-E25ABB132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F452A527-3631-41ED-858D-3777A7D14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25EE49-D1D1-AC61-F6C4-AA6B07CA6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0000" y="639097"/>
            <a:ext cx="4813072" cy="349479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6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Original tweet vs cleaned tweet</a:t>
            </a:r>
          </a:p>
        </p:txBody>
      </p:sp>
      <p:pic>
        <p:nvPicPr>
          <p:cNvPr id="28" name="Picture 27" descr="A screenshot of a phone&#10;&#10;AI-generated content may be incorrect.">
            <a:extLst>
              <a:ext uri="{FF2B5EF4-FFF2-40B4-BE49-F238E27FC236}">
                <a16:creationId xmlns:a16="http://schemas.microsoft.com/office/drawing/2014/main" id="{09412B64-79CF-717D-A7A4-F446FFC114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7" y="1213757"/>
            <a:ext cx="5452532" cy="1594864"/>
          </a:xfrm>
          <a:prstGeom prst="rect">
            <a:avLst/>
          </a:prstGeom>
        </p:spPr>
      </p:pic>
      <p:pic>
        <p:nvPicPr>
          <p:cNvPr id="24" name="Picture 23" descr="A screenshot of a chat&#10;&#10;AI-generated content may be incorrect.">
            <a:extLst>
              <a:ext uri="{FF2B5EF4-FFF2-40B4-BE49-F238E27FC236}">
                <a16:creationId xmlns:a16="http://schemas.microsoft.com/office/drawing/2014/main" id="{F260AD18-8BC6-945E-A4F8-60BF224B95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467" y="4108534"/>
            <a:ext cx="5452534" cy="1472183"/>
          </a:xfrm>
          <a:prstGeom prst="rect">
            <a:avLst/>
          </a:prstGeom>
        </p:spPr>
      </p:pic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D28A9C89-B313-458F-9C85-515930A51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805053" y="4294754"/>
            <a:ext cx="43891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1672A3B1-8EDA-4659-B988-1CE1EBCB0D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" name="Subtitle 29">
            <a:extLst>
              <a:ext uri="{FF2B5EF4-FFF2-40B4-BE49-F238E27FC236}">
                <a16:creationId xmlns:a16="http://schemas.microsoft.com/office/drawing/2014/main" id="{098BF3CD-9C9A-9232-024E-5737005FA6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895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9AD8A-1DD0-5798-279E-723AFBF21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Engineering +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E50FB-473C-3BEA-8431-B03765A89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Text Representation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Machine learning models require numerical input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TF-IDF converts text into weighted feature vectors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2CFD42C-9F4E-2D2B-754C-DED3325D89CF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b="1" dirty="0"/>
              <a:t>Why TF-IDF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Highlights important words in a tweet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Reduces influence of common, less meaningful words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Captures contextual importance</a:t>
            </a:r>
          </a:p>
        </p:txBody>
      </p:sp>
    </p:spTree>
    <p:extLst>
      <p:ext uri="{BB962C8B-B14F-4D97-AF65-F5344CB8AC3E}">
        <p14:creationId xmlns:p14="http://schemas.microsoft.com/office/powerpoint/2010/main" val="4288213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6E3E6-CA89-5FD0-E968-FE5BBD5A1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056D1-FD47-CE7C-393B-C87AE18C3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Engineering + Model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342DB18-2412-FDD6-B710-F5FD1F78D65B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b="1" dirty="0"/>
              <a:t>Model Used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Logistic Regression baseline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Chosen for simplicity and interpretability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C659DF8-468C-7FCC-0796-82CF4212B4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431" y="2062023"/>
            <a:ext cx="5738046" cy="3939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Feature Types Tested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fontAlgn="base"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</a:pPr>
            <a:r>
              <a:rPr lang="en-US" alt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Word TF-IDF (1,2):</a:t>
            </a:r>
          </a:p>
          <a:p>
            <a:pPr marL="800100" lvl="2" indent="-342900" fontAlgn="base"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Captures words and short phrases</a:t>
            </a:r>
          </a:p>
          <a:p>
            <a:pPr marL="800100" lvl="2" indent="-342900" fontAlgn="base"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Preserves semantic meaning</a:t>
            </a:r>
          </a:p>
          <a:p>
            <a:pPr marL="342900" marR="0" lvl="0" indent="-342900" fontAlgn="base"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</a:pPr>
            <a:r>
              <a:rPr lang="en-US" alt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Character TF-IDF (3–5):</a:t>
            </a:r>
          </a:p>
          <a:p>
            <a:pPr marL="800100" lvl="2" indent="-342900" fontAlgn="base"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Captures spelling patterns</a:t>
            </a:r>
          </a:p>
          <a:p>
            <a:pPr marL="800100" lvl="2" indent="-342900" fontAlgn="base"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More robust to noise and misspellings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6232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72C92-1F4F-D83E-EAD4-A62B16D2F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C1C7F-9045-1469-04F3-A00ED6551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4000" dirty="0">
                <a:solidFill>
                  <a:schemeClr val="tx1"/>
                </a:solidFill>
              </a:rPr>
              <a:t>Goal:</a:t>
            </a:r>
            <a:br>
              <a:rPr lang="en-US" sz="4000" dirty="0">
                <a:solidFill>
                  <a:schemeClr val="tx1"/>
                </a:solidFill>
              </a:rPr>
            </a:br>
            <a:r>
              <a:rPr lang="en-US" sz="2800" b="1" dirty="0">
                <a:solidFill>
                  <a:schemeClr val="tx1"/>
                </a:solidFill>
              </a:rPr>
              <a:t>How does Twitter-specific linguistic noise affect classical TF-IDF models compared to a neural baseline?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0309FF9-E9F6-4A83-E74E-188B707E05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431" y="2511629"/>
            <a:ext cx="10608249" cy="2092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Final deliverables completed: TF-IDF + Logistic Regression, TF-IDF + linear SVM, and one neural baseline.</a:t>
            </a:r>
          </a:p>
          <a:p>
            <a:pPr marL="285750" indent="-28575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All models use the same held-out split and the same evaluation protocol.</a:t>
            </a:r>
          </a:p>
          <a:p>
            <a:pPr marL="285750" indent="-28575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The final neural model is a stabilized MLP baseline rather than the larger optional extensions from the proposal.</a:t>
            </a:r>
          </a:p>
        </p:txBody>
      </p:sp>
    </p:spTree>
    <p:extLst>
      <p:ext uri="{BB962C8B-B14F-4D97-AF65-F5344CB8AC3E}">
        <p14:creationId xmlns:p14="http://schemas.microsoft.com/office/powerpoint/2010/main" val="2629802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03383"/>
          </a:xfrm>
          <a:prstGeom prst="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tx2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dirty="0">
                <a:solidFill>
                  <a:srgbClr val="FFFFFF"/>
                </a:solidFill>
              </a:rPr>
              <a:t>Dataset, Split, and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5303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100" dirty="0">
                <a:solidFill>
                  <a:srgbClr val="1E242C"/>
                </a:solidFill>
              </a:rPr>
              <a:t>Dataset: Sentiment140</a:t>
            </a:r>
          </a:p>
          <a:p>
            <a:pPr>
              <a:spcAft>
                <a:spcPts val="600"/>
              </a:spcAft>
            </a:pPr>
            <a:r>
              <a:rPr sz="2100" dirty="0">
                <a:solidFill>
                  <a:srgbClr val="1E242C"/>
                </a:solidFill>
              </a:rPr>
              <a:t>1.6 million labeled tweets</a:t>
            </a:r>
          </a:p>
          <a:p>
            <a:pPr>
              <a:spcAft>
                <a:spcPts val="600"/>
              </a:spcAft>
            </a:pPr>
            <a:r>
              <a:rPr sz="2100" dirty="0">
                <a:solidFill>
                  <a:srgbClr val="1E242C"/>
                </a:solidFill>
              </a:rPr>
              <a:t>Binary sentiment classification</a:t>
            </a:r>
          </a:p>
          <a:p>
            <a:pPr>
              <a:spcAft>
                <a:spcPts val="600"/>
              </a:spcAft>
            </a:pPr>
            <a:r>
              <a:rPr sz="2100" dirty="0">
                <a:solidFill>
                  <a:srgbClr val="1E242C"/>
                </a:solidFill>
              </a:rPr>
              <a:t>Fixed 80/10/10 train/validation/test split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8227665"/>
              </p:ext>
            </p:extLst>
          </p:nvPr>
        </p:nvGraphicFramePr>
        <p:xfrm>
          <a:off x="5760720" y="1097280"/>
          <a:ext cx="5303520" cy="21086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7157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split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rows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positive_rate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7157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42C"/>
                          </a:solidFill>
                        </a:rPr>
                        <a:t>train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42C"/>
                          </a:solidFill>
                        </a:rPr>
                        <a:t>1,280,000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42C"/>
                          </a:solidFill>
                        </a:rPr>
                        <a:t>0.50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7157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42C"/>
                          </a:solidFill>
                        </a:rPr>
                        <a:t>validation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dirty="0">
                          <a:solidFill>
                            <a:srgbClr val="1E242C"/>
                          </a:solidFill>
                        </a:rPr>
                        <a:t>160,000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42C"/>
                          </a:solidFill>
                        </a:rPr>
                        <a:t>0.50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7157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42C"/>
                          </a:solidFill>
                        </a:rPr>
                        <a:t>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42C"/>
                          </a:solidFill>
                        </a:rPr>
                        <a:t>160,000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dirty="0">
                          <a:solidFill>
                            <a:srgbClr val="1E242C"/>
                          </a:solidFill>
                        </a:rPr>
                        <a:t>0.50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4206240"/>
            <a:ext cx="10241280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dirty="0">
                <a:solidFill>
                  <a:schemeClr val="tx2"/>
                </a:solidFill>
              </a:rPr>
              <a:t>Models compared: Logistic Regression, linear SVM, and TF-IDF -&gt; </a:t>
            </a:r>
            <a:r>
              <a:rPr sz="1800" dirty="0" err="1">
                <a:solidFill>
                  <a:schemeClr val="tx2"/>
                </a:solidFill>
              </a:rPr>
              <a:t>TruncatedSVD</a:t>
            </a:r>
            <a:r>
              <a:rPr sz="1800" dirty="0">
                <a:solidFill>
                  <a:schemeClr val="tx2"/>
                </a:solidFill>
              </a:rPr>
              <a:t> -&gt; MLP.</a:t>
            </a:r>
          </a:p>
          <a:p>
            <a:pPr>
              <a:spcAft>
                <a:spcPts val="600"/>
              </a:spcAft>
            </a:pPr>
            <a:r>
              <a:rPr sz="1800" dirty="0">
                <a:solidFill>
                  <a:schemeClr val="tx2"/>
                </a:solidFill>
              </a:rPr>
              <a:t>The classical models use tuned unigram + bigram TF-IDF; the MLP uses a dense SVD representation.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13552"/>
          </a:xfrm>
          <a:prstGeom prst="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Full-Test Results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283714"/>
              </p:ext>
            </p:extLst>
          </p:nvPr>
        </p:nvGraphicFramePr>
        <p:xfrm>
          <a:off x="701040" y="1417320"/>
          <a:ext cx="107899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ROC-AUC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42C"/>
                          </a:solidFill>
                        </a:rPr>
                        <a:t>Linear SVM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42C"/>
                          </a:solidFill>
                        </a:rPr>
                        <a:t>0.797488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42C"/>
                          </a:solidFill>
                        </a:rPr>
                        <a:t>0.800978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42C"/>
                          </a:solidFill>
                        </a:rPr>
                        <a:t>0.878336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42C"/>
                          </a:solidFill>
                        </a:rPr>
                        <a:t>Logistic Regression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42C"/>
                          </a:solidFill>
                        </a:rPr>
                        <a:t>0.798019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dirty="0">
                          <a:solidFill>
                            <a:srgbClr val="1E242C"/>
                          </a:solidFill>
                        </a:rPr>
                        <a:t>0.800764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42C"/>
                          </a:solidFill>
                        </a:rPr>
                        <a:t>0.878590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42C"/>
                          </a:solidFill>
                        </a:rPr>
                        <a:t>MLP Neural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42C"/>
                          </a:solidFill>
                        </a:rPr>
                        <a:t>0.743625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42C"/>
                          </a:solidFill>
                        </a:rPr>
                        <a:t>0.747015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dirty="0">
                          <a:solidFill>
                            <a:srgbClr val="1E242C"/>
                          </a:solidFill>
                        </a:rPr>
                        <a:t>0.822701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3840480"/>
            <a:ext cx="10241280" cy="1123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sz="1900" dirty="0">
                <a:solidFill>
                  <a:srgbClr val="1E242C"/>
                </a:solidFill>
              </a:rPr>
              <a:t>Linear SVM achieved the best full-test F1-score: 0.800978.</a:t>
            </a:r>
          </a:p>
          <a:p>
            <a:pPr marL="342900" indent="-3429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sz="1900" dirty="0">
                <a:solidFill>
                  <a:srgbClr val="1E242C"/>
                </a:solidFill>
              </a:rPr>
              <a:t>Logistic Regression achieved the best full-test ROC-AUC: 0.878590.</a:t>
            </a:r>
          </a:p>
          <a:p>
            <a:pPr marL="342900" indent="-3429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sz="1900" dirty="0">
                <a:solidFill>
                  <a:srgbClr val="1E242C"/>
                </a:solidFill>
              </a:rPr>
              <a:t>The MLP neural baseline remained clearly weaker than both classical baselines.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92480"/>
          </a:xfrm>
          <a:prstGeom prst="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High-Noise Robustness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097280"/>
          <a:ext cx="4663440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5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5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58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58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subset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rows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share_of_test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definition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42C"/>
                          </a:solidFill>
                        </a:rPr>
                        <a:t>full_test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42C"/>
                          </a:solidFill>
                        </a:rPr>
                        <a:t>160,000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42C"/>
                          </a:solidFill>
                        </a:rPr>
                        <a:t>1.000000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42C"/>
                          </a:solidFill>
                        </a:rPr>
                        <a:t>All held-out test tweets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42C"/>
                          </a:solidFill>
                        </a:rPr>
                        <a:t>high_noise_test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42C"/>
                          </a:solidFill>
                        </a:rPr>
                        <a:t>34,445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42C"/>
                          </a:solidFill>
                        </a:rPr>
                        <a:t>0.215281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42C"/>
                          </a:solidFill>
                        </a:rPr>
                        <a:t>At least two noise markers and at least one strong noise marker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0" y="1097280"/>
          <a:ext cx="548640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ROC-AUC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42C"/>
                          </a:solidFill>
                        </a:rPr>
                        <a:t>Linear SVM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42C"/>
                          </a:solidFill>
                        </a:rPr>
                        <a:t>0.778081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42C"/>
                          </a:solidFill>
                        </a:rPr>
                        <a:t>0.809510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42C"/>
                          </a:solidFill>
                        </a:rPr>
                        <a:t>0.855501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42C"/>
                          </a:solidFill>
                        </a:rPr>
                        <a:t>Logistic Regression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42C"/>
                          </a:solidFill>
                        </a:rPr>
                        <a:t>0.777762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42C"/>
                          </a:solidFill>
                        </a:rPr>
                        <a:t>0.808773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42C"/>
                          </a:solidFill>
                        </a:rPr>
                        <a:t>0.855772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1E242C"/>
                          </a:solidFill>
                        </a:rPr>
                        <a:t>MLP Neural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42C"/>
                          </a:solidFill>
                        </a:rPr>
                        <a:t>0.732153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42C"/>
                          </a:solidFill>
                        </a:rPr>
                        <a:t>0.768644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1E242C"/>
                          </a:solidFill>
                        </a:rPr>
                        <a:t>0.802110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3718560"/>
            <a:ext cx="1024128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sz="1800" dirty="0" err="1">
                <a:solidFill>
                  <a:srgbClr val="1E242C"/>
                </a:solidFill>
              </a:rPr>
              <a:t>high_noise_test</a:t>
            </a:r>
            <a:r>
              <a:rPr sz="1800" dirty="0">
                <a:solidFill>
                  <a:srgbClr val="1E242C"/>
                </a:solidFill>
              </a:rPr>
              <a:t> requires at least two noise markers and at least one strong Twitter-specific artifact.</a:t>
            </a:r>
          </a:p>
          <a:p>
            <a:pPr marL="285750" indent="-28575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1E242C"/>
                </a:solidFill>
              </a:rPr>
              <a:t>Accuracy and ROC-AUC fell for all models on this subset.</a:t>
            </a:r>
          </a:p>
          <a:p>
            <a:pPr marL="285750" indent="-28575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1E242C"/>
                </a:solidFill>
              </a:rPr>
              <a:t>F1 rose slightly because recall increased more than precision declined.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"/>
            <a:ext cx="12188952" cy="749147"/>
          </a:xfrm>
          <a:prstGeom prst="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Confusion Matrices</a:t>
            </a:r>
          </a:p>
        </p:txBody>
      </p:sp>
      <p:pic>
        <p:nvPicPr>
          <p:cNvPr id="4" name="Picture 3" descr="confusion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325880"/>
            <a:ext cx="10972800" cy="288699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8978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07F2B"/>
                </a:solidFill>
              </a:rPr>
              <a:t>The classical models show cleaner separation than the neural baseline on the held-out test set.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15248"/>
          </a:xfrm>
          <a:prstGeom prst="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Runtime and Error Analysis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3168959"/>
              </p:ext>
            </p:extLst>
          </p:nvPr>
        </p:nvGraphicFramePr>
        <p:xfrm>
          <a:off x="729996" y="1962390"/>
          <a:ext cx="5364480" cy="19417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8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8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8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54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Train Time (s)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Tweets / sec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42C"/>
                          </a:solidFill>
                        </a:rPr>
                        <a:t>Linear SVM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42C"/>
                          </a:solidFill>
                        </a:rPr>
                        <a:t>8.85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1E242C"/>
                          </a:solidFill>
                        </a:rPr>
                        <a:t>5.61e+07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42C"/>
                          </a:solidFill>
                        </a:rPr>
                        <a:t>Logistic Regression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42C"/>
                          </a:solidFill>
                        </a:rPr>
                        <a:t>7.20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42C"/>
                          </a:solidFill>
                        </a:rPr>
                        <a:t>5.72e+07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42C"/>
                          </a:solidFill>
                        </a:rPr>
                        <a:t>MLP Neural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42C"/>
                          </a:solidFill>
                        </a:rPr>
                        <a:t>5.15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1E242C"/>
                          </a:solidFill>
                        </a:rPr>
                        <a:t>1.72e+06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71308" y="1232787"/>
            <a:ext cx="4754880" cy="340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1E242C"/>
                </a:solidFill>
              </a:rPr>
              <a:t>Negation appears much more often in false negatives than false positives.</a:t>
            </a:r>
          </a:p>
          <a:p>
            <a:pPr marL="285750" indent="-28575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1E242C"/>
                </a:solidFill>
              </a:rPr>
              <a:t>Mentions and repeated characters are common across both error types.</a:t>
            </a:r>
          </a:p>
          <a:p>
            <a:pPr marL="285750" indent="-28575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1E242C"/>
                </a:solidFill>
              </a:rPr>
              <a:t>Some hard examples likely reflect distant-supervision label noise in Sentiment140.</a:t>
            </a:r>
          </a:p>
          <a:p>
            <a:pPr marL="285750" indent="-28575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1E242C"/>
                </a:solidFill>
              </a:rPr>
              <a:t>The MLP was trained on a capped 100k-row sample, so the neural comparison is not fully compute-matched.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chemeClr val="accent2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362387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dirty="0"/>
              <a:t>Conclusion /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876086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dirty="0"/>
              <a:t>Classical TF-IDF baselines were the strongest models in this project.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058400" cy="253915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sz="2400" dirty="0"/>
              <a:t>Linear SVM had the best full-test F1-score.</a:t>
            </a:r>
          </a:p>
          <a:p>
            <a:pPr marL="342900" indent="-3429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sz="2400" dirty="0"/>
              <a:t>Logistic Regression had the best full-test ROC-AUC.</a:t>
            </a:r>
          </a:p>
          <a:p>
            <a:pPr marL="342900" indent="-3429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sz="2400" dirty="0"/>
              <a:t>The stabilized MLP did not provide a robustness advantage on high-noise tweets.</a:t>
            </a:r>
          </a:p>
          <a:p>
            <a:pPr marL="342900" indent="-3429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sz="2400"/>
              <a:t>The project met the </a:t>
            </a:r>
            <a:r>
              <a:rPr lang="en-US" sz="2400"/>
              <a:t>proposal scope</a:t>
            </a:r>
            <a:r>
              <a:rPr sz="2400"/>
              <a:t> with reproducible evaluation </a:t>
            </a:r>
            <a:r>
              <a:rPr sz="2400" dirty="0"/>
              <a:t>and error analysis.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B0E58038-8ACE-4AD9-B404-25C603550D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3D8CC1-FDB7-3851-D10D-007E540A8EF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30833" b="12917"/>
          <a:stretch>
            <a:fillRect/>
          </a:stretch>
        </p:blipFill>
        <p:spPr>
          <a:xfrm>
            <a:off x="20" y="126615"/>
            <a:ext cx="12191980" cy="6857990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8A34772-9011-42B5-AA63-FD6DEC92EE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910746"/>
            <a:ext cx="996696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11F8BBE2-A0F0-5821-6AE8-8EC8B28975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671" y="2081696"/>
            <a:ext cx="10058400" cy="376089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0" tIns="45720" rIns="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marR="0" lvl="0" indent="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Calibri" panose="020F0502020204030204" pitchFamily="34" charset="0"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🔹 Model Improvements</a:t>
            </a:r>
          </a:p>
          <a:p>
            <a:pPr marL="0" marR="0" lvl="0" indent="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Calibri" panose="020F050202020403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Explore deep learning models (LSTM, BERT)</a:t>
            </a:r>
          </a:p>
          <a:p>
            <a:pPr marL="0" marR="0" lvl="0" indent="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Calibri" panose="020F050202020403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Capture context and word relationships more effectively</a:t>
            </a:r>
          </a:p>
          <a:p>
            <a:pPr marL="0" marR="0" lvl="0" indent="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Calibri" panose="020F0502020204030204" pitchFamily="34" charset="0"/>
              <a:buChar char="•"/>
              <a:tabLst/>
            </a:pPr>
            <a:endParaRPr lang="en-US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marR="0" lvl="0" indent="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Calibri" panose="020F0502020204030204" pitchFamily="34" charset="0"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marL="0" marR="0" lvl="0" indent="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Calibri" panose="020F0502020204030204" pitchFamily="34" charset="0"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2BCDE19-2810-4337-9C49-8589C42176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F0088C4-2C9E-DC4A-AE72-725AAE03F8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218" y="3555610"/>
            <a:ext cx="545617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🔹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Handling Complex Language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Improve detection of sarcasm and irony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Better understanding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</a:rPr>
              <a:t>of negation and subtle sentiment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06F9F73-0E90-9A81-3DA1-C1F01708BE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218" y="4966663"/>
            <a:ext cx="523598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🔹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Data Enhancements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Expand dataset with more diverse and recent tweets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Include multilingual sentiment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64B798AC-1A38-A57F-E8F5-A386E1B875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3996" y="2153372"/>
            <a:ext cx="496539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Feature Engineering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Incorporate word embeddings (Word2Vec,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GloVe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Compare with TF-IDF representations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7C698EB1-BC82-B507-ED7D-D00DBEC74E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3996" y="3968824"/>
            <a:ext cx="552728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Robustness &amp; Evaluation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Further analyze performance on noisy and informal text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Improve handling of emojis, slang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and abbreviations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01F446-1C4B-A3EB-C59A-38ADD6005B91}"/>
              </a:ext>
            </a:extLst>
          </p:cNvPr>
          <p:cNvSpPr txBox="1"/>
          <p:nvPr/>
        </p:nvSpPr>
        <p:spPr>
          <a:xfrm>
            <a:off x="4302370" y="960235"/>
            <a:ext cx="28536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spc="-5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What’s Next?</a:t>
            </a:r>
          </a:p>
        </p:txBody>
      </p:sp>
    </p:spTree>
    <p:extLst>
      <p:ext uri="{BB962C8B-B14F-4D97-AF65-F5344CB8AC3E}">
        <p14:creationId xmlns:p14="http://schemas.microsoft.com/office/powerpoint/2010/main" val="40130882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FDF0338-C524-4CF6-9268-3569B65741F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4E6FD3E-3033-4D44-9759-980DCC3E7F47}">
  <ds:schemaRefs>
    <ds:schemaRef ds:uri="http://www.w3.org/XML/1998/namespace"/>
    <ds:schemaRef ds:uri="http://purl.org/dc/elements/1.1/"/>
    <ds:schemaRef ds:uri="71af3243-3dd4-4a8d-8c0d-dd76da1f02a5"/>
    <ds:schemaRef ds:uri="http://schemas.microsoft.com/office/infopath/2007/PartnerControls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purl.org/dc/terms/"/>
    <ds:schemaRef ds:uri="16c05727-aa75-4e4a-9b5f-8a80a1165891"/>
    <ds:schemaRef ds:uri="230e9df3-be65-4c73-a93b-d1236ebd677e"/>
    <ds:schemaRef ds:uri="http://schemas.microsoft.com/sharepoint/v3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AA887178-918B-41B5-90B5-AF84E76A422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RetrospectVTI</Template>
  <TotalTime>193</TotalTime>
  <Words>789</Words>
  <Application>Microsoft Macintosh PowerPoint</Application>
  <PresentationFormat>Widescreen</PresentationFormat>
  <Paragraphs>172</Paragraphs>
  <Slides>14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Calibri</vt:lpstr>
      <vt:lpstr>Calibri Light</vt:lpstr>
      <vt:lpstr>RetrospectVTI</vt:lpstr>
      <vt:lpstr>Sentiment Analysis of Noisy Twitter Data  Group 16 Oluchi Nwabuoku Pete Sanker</vt:lpstr>
      <vt:lpstr>Motivation/Objective</vt:lpstr>
      <vt:lpstr>Preprocessing</vt:lpstr>
      <vt:lpstr>Original tweet vs cleaned tweet</vt:lpstr>
      <vt:lpstr>Feature Engineering + Model</vt:lpstr>
      <vt:lpstr>Feature Engineering + Model</vt:lpstr>
      <vt:lpstr>Goal: How does Twitter-specific linguistic noise affect classical TF-IDF models compared to a neural baseline?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Nwabuoku, Oluchi</dc:creator>
  <cp:lastModifiedBy>Nwabuoku, Oluchi</cp:lastModifiedBy>
  <cp:revision>5</cp:revision>
  <dcterms:created xsi:type="dcterms:W3CDTF">2026-04-12T22:09:25Z</dcterms:created>
  <dcterms:modified xsi:type="dcterms:W3CDTF">2026-04-13T20:57:44Z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